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現状時間は提供フローNo.7・8。35分は30〜40分の代表値。20分は試行目標。15分×40本＝600分。実績ではない。https://docs.google.com/spreadsheets/d/1fYx38RIAnlZX5Wn_8XF90Bh9j-qp4PNPecIqDEFj2_4/edit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C85370"/>
                </a:solidFill>
                <a:latin typeface="Noto Sans CJK JP"/>
              </a:defRPr>
            </a:pPr>
            <a:r>
              <a:t>ANGLE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9264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22365E"/>
                </a:solidFill>
                <a:latin typeface="Noto Sans CJK JP"/>
              </a:defRPr>
            </a:pPr>
            <a:r>
              <a:t>初稿の先にある確認を、次の仕事へつなぐ。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5E6A83"/>
                </a:solidFill>
                <a:latin typeface="Noto Sans CJK JP"/>
              </a:defRPr>
            </a:pPr>
            <a:r>
              <a:t>企画・取材資料・原稿・修正の根拠を、一つの記事で扱う制作支援。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5E6A83"/>
                </a:solidFill>
                <a:latin typeface="Noto Sans CJK JP"/>
              </a:defRPr>
            </a:pPr>
            <a:r>
              <a:t>ANGLE Review  /  株式会社アングルクリエイト向け  /  2026.10.04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642616"/>
            <a:ext cx="35204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83464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C85370"/>
                </a:solidFill>
                <a:latin typeface="Noto Sans CJK JP"/>
              </a:defRPr>
            </a:pPr>
            <a:r>
              <a:t>01  現場の課題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40156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22365E"/>
                </a:solidFill>
                <a:latin typeface="Noto Sans CJK JP"/>
              </a:defRPr>
            </a:pPr>
            <a:r>
              <a:t>初稿の後に、時間が残る。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105656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E6A83"/>
                </a:solidFill>
                <a:latin typeface="Noto Sans CJK JP"/>
              </a:defRPr>
            </a:pPr>
            <a:r>
              <a:t>提供フローでは、初稿は約5分。</a:t>
            </a:r>
          </a:p>
          <a:p>
            <a:pPr>
              <a:defRPr sz="1200" b="0">
                <a:solidFill>
                  <a:srgbClr val="5E6A83"/>
                </a:solidFill>
                <a:latin typeface="Noto Sans CJK JP"/>
              </a:defRPr>
            </a:pPr>
            <a:r>
              <a:t>原稿修正・校正は約3往復、</a:t>
            </a:r>
          </a:p>
          <a:p>
            <a:pPr>
              <a:defRPr sz="1200" b="0">
                <a:solidFill>
                  <a:srgbClr val="5E6A83"/>
                </a:solidFill>
                <a:latin typeface="Noto Sans CJK JP"/>
              </a:defRPr>
            </a:pPr>
            <a:r>
              <a:t>30〜40分。確認の引き継ぎに着目。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2642616"/>
            <a:ext cx="35204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83464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C85370"/>
                </a:solidFill>
                <a:latin typeface="Noto Sans CJK JP"/>
              </a:defRPr>
            </a:pPr>
            <a:r>
              <a:t>02  変わる仕事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340156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22365E"/>
                </a:solidFill>
                <a:latin typeface="Noto Sans CJK JP"/>
              </a:defRPr>
            </a:pPr>
            <a:r>
              <a:t>原稿と根拠を並べて判断。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4105656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E6A83"/>
                </a:solidFill>
                <a:latin typeface="Noto Sans CJK JP"/>
              </a:defRPr>
            </a:pPr>
            <a:r>
              <a:t>取材資料から初稿を作り、</a:t>
            </a:r>
          </a:p>
          <a:p>
            <a:pPr>
              <a:defRPr sz="1200" b="0">
                <a:solidFill>
                  <a:srgbClr val="5E6A83"/>
                </a:solidFill>
                <a:latin typeface="Noto Sans CJK JP"/>
              </a:defRPr>
            </a:pPr>
            <a:r>
              <a:t>専門担当が事実・表記・構成を確認。</a:t>
            </a:r>
          </a:p>
          <a:p>
            <a:pPr>
              <a:defRPr sz="1200" b="0">
                <a:solidFill>
                  <a:srgbClr val="5E6A83"/>
                </a:solidFill>
                <a:latin typeface="Noto Sans CJK JP"/>
              </a:defRPr>
            </a:pPr>
            <a:r>
              <a:t>修正案を編集し、Wordへ渡せる。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5864" y="2642616"/>
            <a:ext cx="3520440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283464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C85370"/>
                </a:solidFill>
                <a:latin typeface="Noto Sans CJK JP"/>
              </a:defRPr>
            </a:pPr>
            <a:r>
              <a:t>03  導入の判断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340156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22365E"/>
                </a:solidFill>
                <a:latin typeface="Noto Sans CJK JP"/>
              </a:defRPr>
            </a:pPr>
            <a:r>
              <a:t>2週間・5記事で確かめる。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4105656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E6A83"/>
                </a:solidFill>
                <a:latin typeface="Noto Sans CJK JP"/>
              </a:defRPr>
            </a:pPr>
            <a:r>
              <a:t>同じ条件の導入前後を比較。</a:t>
            </a:r>
          </a:p>
          <a:p>
            <a:pPr>
              <a:defRPr sz="1200" b="0">
                <a:solidFill>
                  <a:srgbClr val="5E6A83"/>
                </a:solidFill>
                <a:latin typeface="Noto Sans CJK JP"/>
              </a:defRPr>
            </a:pPr>
            <a:r>
              <a:t>時間・往復・見落とし・利用費を測り、</a:t>
            </a:r>
          </a:p>
          <a:p>
            <a:pPr>
              <a:defRPr sz="1200" b="0">
                <a:solidFill>
                  <a:srgbClr val="5E6A83"/>
                </a:solidFill>
                <a:latin typeface="Noto Sans CJK JP"/>
              </a:defRPr>
            </a:pPr>
            <a:r>
              <a:t>現場の負担と品質を一緒に評価。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321808"/>
            <a:ext cx="10991088" cy="640080"/>
          </a:xfrm>
          <a:prstGeom prst="rect">
            <a:avLst/>
          </a:prstGeom>
          <a:solidFill>
            <a:srgbClr val="F8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5504688"/>
            <a:ext cx="106527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22365E"/>
                </a:solidFill>
                <a:latin typeface="Noto Sans CJK JP"/>
              </a:defRPr>
            </a:pPr>
            <a:r>
              <a:t>試行目標：35分 → 20分／本。月40本なら、10時間の制作余力。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080760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E6A83"/>
                </a:solidFill>
                <a:latin typeface="Noto Sans CJK JP"/>
              </a:defRPr>
            </a:pPr>
            <a:r>
              <a:t>効果は試算。共有・通知は利用開始設定後。取材・依頼送信・公開・SNS投稿は担当者が行います。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