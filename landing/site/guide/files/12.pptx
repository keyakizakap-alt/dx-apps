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C85370"/>
                </a:solidFill>
                <a:latin typeface="Noto Sans CJK JP"/>
              </a:defRPr>
            </a:pPr>
            <a:r>
              <a:t>ANGLE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9264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900" b="1">
                <a:solidFill>
                  <a:srgbClr val="22365E"/>
                </a:solidFill>
                <a:latin typeface="Noto Sans CJK JP"/>
              </a:defRPr>
            </a:pPr>
            <a:r>
              <a:t>根拠を見て、直す箇所を決める。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5E6A83"/>
                </a:solidFill>
                <a:latin typeface="Noto Sans CJK JP"/>
              </a:defRPr>
            </a:pPr>
            <a:r>
              <a:t>架空の取材資料と、実際に生成した指摘から。数値の修正見本は資料に合わせて今回編集。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5E6A83"/>
                </a:solidFill>
                <a:latin typeface="Noto Sans CJK JP"/>
              </a:defRPr>
            </a:pPr>
            <a:r>
              <a:t>ANGLE Review  /  株式会社アングルクリエイト向け  /  2026.10.04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551176"/>
            <a:ext cx="3520440" cy="438912"/>
          </a:xfrm>
          <a:prstGeom prst="rect">
            <a:avLst/>
          </a:prstGeom>
          <a:solidFill>
            <a:srgbClr val="22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6090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Noto Sans CJK JP"/>
              </a:defRPr>
            </a:pPr>
            <a:r>
              <a:t>原稿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2551176"/>
            <a:ext cx="3520440" cy="438912"/>
          </a:xfrm>
          <a:prstGeom prst="rect">
            <a:avLst/>
          </a:prstGeom>
          <a:solidFill>
            <a:srgbClr val="22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266090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Noto Sans CJK JP"/>
              </a:defRPr>
            </a:pPr>
            <a:r>
              <a:t>取材の根拠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5864" y="2551176"/>
            <a:ext cx="3520440" cy="438912"/>
          </a:xfrm>
          <a:prstGeom prst="rect">
            <a:avLst/>
          </a:prstGeom>
          <a:solidFill>
            <a:srgbClr val="223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266090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Noto Sans CJK JP"/>
              </a:defRPr>
            </a:pPr>
            <a:r>
              <a:t>修正案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72384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200400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田中氏は「すべてのお客様で</a:t>
            </a:r>
          </a:p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効果を確認できました」と語る。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072384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3200400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田中：一部のお客様で</a:t>
            </a:r>
          </a:p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効果を確認できました。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3072384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3200400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2365E"/>
                </a:solidFill>
                <a:latin typeface="Noto Sans CJK JP"/>
              </a:defRPr>
            </a:pPr>
            <a:r>
              <a:t>田中氏は「一部のお客様で</a:t>
            </a:r>
          </a:p>
          <a:p>
            <a:pPr>
              <a:defRPr sz="1400" b="1">
                <a:solidFill>
                  <a:srgbClr val="22365E"/>
                </a:solidFill>
                <a:latin typeface="Noto Sans CJK JP"/>
              </a:defRPr>
            </a:pPr>
            <a:r>
              <a:t>効果を確認できました」と語る。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178808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306824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月次レポートの作成時間を</a:t>
            </a:r>
          </a:p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50%削減したという。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4178808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4306824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田中：ある支援先では、</a:t>
            </a:r>
          </a:p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月次レポートの作成時間を</a:t>
            </a:r>
          </a:p>
          <a:p>
            <a:pPr>
              <a:defRPr sz="1400" b="0">
                <a:solidFill>
                  <a:srgbClr val="22365E"/>
                </a:solidFill>
                <a:latin typeface="Noto Sans CJK JP"/>
              </a:defRPr>
            </a:pPr>
            <a:r>
              <a:t>30%削減できました。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5864" y="4178808"/>
            <a:ext cx="35204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4306824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2365E"/>
                </a:solidFill>
                <a:latin typeface="Noto Sans CJK JP"/>
              </a:defRPr>
            </a:pPr>
            <a:r>
              <a:t>ある支援先では、月次レポートの</a:t>
            </a:r>
          </a:p>
          <a:p>
            <a:pPr>
              <a:defRPr sz="1400" b="1">
                <a:solidFill>
                  <a:srgbClr val="22365E"/>
                </a:solidFill>
                <a:latin typeface="Noto Sans CJK JP"/>
              </a:defRPr>
            </a:pPr>
            <a:r>
              <a:t>作成時間を30%削減したという。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2239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C85370"/>
                </a:solidFill>
                <a:latin typeface="Noto Sans CJK JP"/>
              </a:defRPr>
            </a:pPr>
            <a:r>
              <a:t>「すべて」から「一部」へ。数字と一緒に、対象と条件も引き継ぐ。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4418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5E6A83"/>
                </a:solidFill>
                <a:latin typeface="Noto Sans CJK JP"/>
              </a:defRPr>
            </a:pPr>
            <a:r>
              <a:t>1段目：実生成の修正案。2段目：編集見本。30%は架空資料の数値で、アプリの改善実績ではありません。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